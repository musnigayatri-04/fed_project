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rice SemiExpanded" panose="020B0604020202020204" charset="0"/>
      <p:regular r:id="rId13"/>
    </p:embeddedFont>
    <p:embeddedFont>
      <p:font typeface="Charmonman Bold" panose="020B0604020202020204" charset="-34"/>
      <p:regular r:id="rId14"/>
    </p:embeddedFont>
    <p:embeddedFont>
      <p:font typeface="Noto Sans" panose="020B0502040504020204" pitchFamily="34" charset="0"/>
      <p:regular r:id="rId15"/>
    </p:embeddedFont>
    <p:embeddedFont>
      <p:font typeface="Noto Sa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40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tha Reddy" userId="d452ed3775c091e4" providerId="LiveId" clId="{F7BCD16E-EADF-4C5B-934F-813013D16596}"/>
    <pc:docChg chg="modSld">
      <pc:chgData name="Rishitha Reddy" userId="d452ed3775c091e4" providerId="LiveId" clId="{F7BCD16E-EADF-4C5B-934F-813013D16596}" dt="2026-06-19T03:29:30.700" v="2" actId="20577"/>
      <pc:docMkLst>
        <pc:docMk/>
      </pc:docMkLst>
      <pc:sldChg chg="modSp mod">
        <pc:chgData name="Rishitha Reddy" userId="d452ed3775c091e4" providerId="LiveId" clId="{F7BCD16E-EADF-4C5B-934F-813013D16596}" dt="2026-06-19T03:29:30.700" v="2" actId="20577"/>
        <pc:sldMkLst>
          <pc:docMk/>
          <pc:sldMk cId="0" sldId="259"/>
        </pc:sldMkLst>
        <pc:spChg chg="mod">
          <ac:chgData name="Rishitha Reddy" userId="d452ed3775c091e4" providerId="LiveId" clId="{F7BCD16E-EADF-4C5B-934F-813013D16596}" dt="2026-06-19T03:29:30.700" v="2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Rishitha Reddy" userId="d452ed3775c091e4" providerId="LiveId" clId="{F7BCD16E-EADF-4C5B-934F-813013D16596}" dt="2026-06-18T19:02:26.547" v="0" actId="20577"/>
        <pc:sldMkLst>
          <pc:docMk/>
          <pc:sldMk cId="0" sldId="260"/>
        </pc:sldMkLst>
        <pc:spChg chg="mod">
          <ac:chgData name="Rishitha Reddy" userId="d452ed3775c091e4" providerId="LiveId" clId="{F7BCD16E-EADF-4C5B-934F-813013D16596}" dt="2026-06-18T19:02:26.547" v="0" actId="20577"/>
          <ac:spMkLst>
            <pc:docMk/>
            <pc:sldMk cId="0" sldId="260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3886265"/>
            <a:ext cx="11482787" cy="172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5"/>
              </a:lnSpc>
            </a:pPr>
            <a:r>
              <a:rPr lang="en-US" sz="6768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Flight Delay Compensation Claim</a:t>
            </a:r>
          </a:p>
        </p:txBody>
      </p:sp>
      <p:sp>
        <p:nvSpPr>
          <p:cNvPr id="3" name="Freeform 3"/>
          <p:cNvSpPr/>
          <p:nvPr/>
        </p:nvSpPr>
        <p:spPr>
          <a:xfrm>
            <a:off x="13517246" y="-527366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1"/>
                </a:lnTo>
                <a:lnTo>
                  <a:pt x="0" y="3390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3743" y="7200900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13079" y="6305316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288027">
            <a:off x="-824367" y="-230179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574632" y="7616446"/>
            <a:ext cx="5276894" cy="931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sz="2685" b="1" spc="29" dirty="0" err="1">
                <a:solidFill>
                  <a:srgbClr val="000000"/>
                </a:solidFill>
                <a:latin typeface="Charmonman Bold"/>
                <a:ea typeface="Charmonman Bold"/>
                <a:cs typeface="Charmonman Bold"/>
                <a:sym typeface="Charmonman Bold"/>
              </a:rPr>
              <a:t>M.Gayatri</a:t>
            </a:r>
            <a:r>
              <a:rPr lang="en-US" sz="2685" b="1" spc="29" dirty="0">
                <a:solidFill>
                  <a:srgbClr val="000000"/>
                </a:solidFill>
                <a:latin typeface="Charmonman Bold"/>
                <a:ea typeface="Charmonman Bold"/>
                <a:cs typeface="Charmonman Bold"/>
                <a:sym typeface="Charmonman Bold"/>
              </a:rPr>
              <a:t> - 2520030175</a:t>
            </a:r>
          </a:p>
          <a:p>
            <a:pPr algn="l">
              <a:lnSpc>
                <a:spcPts val="3759"/>
              </a:lnSpc>
            </a:pPr>
            <a:r>
              <a:rPr lang="en-US" sz="2685" b="1" spc="29" dirty="0">
                <a:solidFill>
                  <a:srgbClr val="000000"/>
                </a:solidFill>
                <a:latin typeface="Charmonman Bold"/>
                <a:ea typeface="Charmonman Bold"/>
                <a:cs typeface="Charmonman Bold"/>
                <a:sym typeface="Charmonman Bold"/>
              </a:rPr>
              <a:t>S. Rishitha Reddy - 2520090039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7655323" y="179614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75559"/>
            <a:ext cx="8647666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46120" y="2666001"/>
            <a:ext cx="7216012" cy="490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is Flight Delay Compensation?</a:t>
            </a:r>
          </a:p>
          <a:p>
            <a:pPr algn="l">
              <a:lnSpc>
                <a:spcPts val="3564"/>
              </a:lnSpc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Flight delay compensation is a process that allows passengers to claim reimbursement when flights are significantly delayed due to airline-related issues.</a:t>
            </a:r>
          </a:p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Objective: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Simplify compensation claims.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Reduce manual paperwork.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Provide transparent claim tracking.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Improve customer satisfaction.</a:t>
            </a:r>
          </a:p>
          <a:p>
            <a:pPr algn="l">
              <a:lnSpc>
                <a:spcPts val="3564"/>
              </a:lnSpc>
            </a:pPr>
            <a:endParaRPr lang="en-US" sz="2546" spc="28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 flipH="1">
            <a:off x="0" y="3300437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7195356" y="0"/>
                </a:moveTo>
                <a:lnTo>
                  <a:pt x="0" y="0"/>
                </a:lnTo>
                <a:lnTo>
                  <a:pt x="0" y="3390812"/>
                </a:lnTo>
                <a:lnTo>
                  <a:pt x="7195356" y="3390812"/>
                </a:lnTo>
                <a:lnTo>
                  <a:pt x="7195356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77272" y="-505616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518695" y="6306059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59259" y="8237963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7641898" y="6356940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870303" y="372712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08146" y="1257388"/>
            <a:ext cx="6545941" cy="534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3947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Problem Statement: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68685" y="3973828"/>
            <a:ext cx="6199836" cy="2668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Existing Problems: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Lengthy claim process.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Manual verification.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Lack of claim status visibility.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Delayed compensation payments.</a:t>
            </a:r>
          </a:p>
          <a:p>
            <a:pPr algn="l">
              <a:lnSpc>
                <a:spcPts val="3564"/>
              </a:lnSpc>
            </a:pPr>
            <a:endParaRPr lang="en-US" sz="2546" spc="28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797970" y="241218"/>
            <a:ext cx="5562081" cy="2621131"/>
          </a:xfrm>
          <a:custGeom>
            <a:avLst/>
            <a:gdLst/>
            <a:ahLst/>
            <a:cxnLst/>
            <a:rect l="l" t="t" r="r" b="b"/>
            <a:pathLst>
              <a:path w="5562081" h="2621131">
                <a:moveTo>
                  <a:pt x="0" y="0"/>
                </a:moveTo>
                <a:lnTo>
                  <a:pt x="5562081" y="0"/>
                </a:lnTo>
                <a:lnTo>
                  <a:pt x="5562081" y="2621131"/>
                </a:lnTo>
                <a:lnTo>
                  <a:pt x="0" y="26211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06730" y="435194"/>
            <a:ext cx="3923909" cy="2713171"/>
          </a:xfrm>
          <a:custGeom>
            <a:avLst/>
            <a:gdLst/>
            <a:ahLst/>
            <a:cxnLst/>
            <a:rect l="l" t="t" r="r" b="b"/>
            <a:pathLst>
              <a:path w="3923909" h="2713171">
                <a:moveTo>
                  <a:pt x="3923909" y="0"/>
                </a:moveTo>
                <a:lnTo>
                  <a:pt x="0" y="0"/>
                </a:lnTo>
                <a:lnTo>
                  <a:pt x="0" y="2713172"/>
                </a:lnTo>
                <a:lnTo>
                  <a:pt x="3923909" y="2713172"/>
                </a:lnTo>
                <a:lnTo>
                  <a:pt x="392390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823810" y="6801032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44082" y="8571124"/>
            <a:ext cx="5274068" cy="2448674"/>
          </a:xfrm>
          <a:custGeom>
            <a:avLst/>
            <a:gdLst/>
            <a:ahLst/>
            <a:cxnLst/>
            <a:rect l="l" t="t" r="r" b="b"/>
            <a:pathLst>
              <a:path w="5274068" h="2448674">
                <a:moveTo>
                  <a:pt x="0" y="0"/>
                </a:moveTo>
                <a:lnTo>
                  <a:pt x="5274068" y="0"/>
                </a:lnTo>
                <a:lnTo>
                  <a:pt x="5274068" y="2448675"/>
                </a:lnTo>
                <a:lnTo>
                  <a:pt x="0" y="2448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13112177" y="669370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-1823810" y="4944655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096320" y="3973828"/>
            <a:ext cx="6199836" cy="3116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 spc="28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Proposed Solution</a:t>
            </a:r>
          </a:p>
          <a:p>
            <a:pPr algn="l">
              <a:lnSpc>
                <a:spcPts val="3564"/>
              </a:lnSpc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Develop a digital system that: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Automates claim submission.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Verifies eligibility.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Tracks claim status.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Processes compensation efficiently.</a:t>
            </a:r>
          </a:p>
          <a:p>
            <a:pPr algn="l">
              <a:lnSpc>
                <a:spcPts val="3564"/>
              </a:lnSpc>
            </a:pPr>
            <a:endParaRPr lang="en-US" sz="2546" spc="28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93910" y="1171575"/>
            <a:ext cx="10517519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System Features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61327" y="4159427"/>
            <a:ext cx="8161150" cy="3662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4"/>
              </a:lnSpc>
            </a:pPr>
            <a:r>
              <a:rPr lang="en-US" sz="2546" b="1" spc="28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Key Features: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User Registration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Flight Information Submission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Delay Verification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Compensation Eligibility Check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Claim Tracking Dashboard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Notification System</a:t>
            </a:r>
          </a:p>
          <a:p>
            <a:pPr marL="549752" lvl="1" indent="-274876" algn="l">
              <a:lnSpc>
                <a:spcPts val="3564"/>
              </a:lnSpc>
              <a:buFont typeface="Arial"/>
              <a:buChar char="•"/>
            </a:pPr>
            <a:r>
              <a:rPr lang="en-US" sz="2546" spc="28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Admin Approval Panel</a:t>
            </a:r>
          </a:p>
        </p:txBody>
      </p:sp>
      <p:sp>
        <p:nvSpPr>
          <p:cNvPr id="4" name="Freeform 4"/>
          <p:cNvSpPr/>
          <p:nvPr/>
        </p:nvSpPr>
        <p:spPr>
          <a:xfrm>
            <a:off x="14803616" y="0"/>
            <a:ext cx="4911367" cy="2314482"/>
          </a:xfrm>
          <a:custGeom>
            <a:avLst/>
            <a:gdLst/>
            <a:ahLst/>
            <a:cxnLst/>
            <a:rect l="l" t="t" r="r" b="b"/>
            <a:pathLst>
              <a:path w="4911367" h="2314482">
                <a:moveTo>
                  <a:pt x="0" y="0"/>
                </a:moveTo>
                <a:lnTo>
                  <a:pt x="4911368" y="0"/>
                </a:lnTo>
                <a:lnTo>
                  <a:pt x="4911368" y="2314482"/>
                </a:lnTo>
                <a:lnTo>
                  <a:pt x="0" y="2314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218" y="7723776"/>
            <a:ext cx="2975503" cy="2057400"/>
          </a:xfrm>
          <a:custGeom>
            <a:avLst/>
            <a:gdLst/>
            <a:ahLst/>
            <a:cxnLst/>
            <a:rect l="l" t="t" r="r" b="b"/>
            <a:pathLst>
              <a:path w="2975503" h="2057400">
                <a:moveTo>
                  <a:pt x="0" y="0"/>
                </a:moveTo>
                <a:lnTo>
                  <a:pt x="2975504" y="0"/>
                </a:lnTo>
                <a:lnTo>
                  <a:pt x="29755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639717" y="2519052"/>
            <a:ext cx="12283966" cy="6488256"/>
          </a:xfrm>
          <a:custGeom>
            <a:avLst/>
            <a:gdLst/>
            <a:ahLst/>
            <a:cxnLst/>
            <a:rect l="l" t="t" r="r" b="b"/>
            <a:pathLst>
              <a:path w="12283966" h="6488256">
                <a:moveTo>
                  <a:pt x="0" y="0"/>
                </a:moveTo>
                <a:lnTo>
                  <a:pt x="12283967" y="0"/>
                </a:lnTo>
                <a:lnTo>
                  <a:pt x="12283967" y="6488256"/>
                </a:lnTo>
                <a:lnTo>
                  <a:pt x="0" y="6488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1702">
            <a:off x="10745159" y="9258300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3"/>
                </a:lnTo>
                <a:lnTo>
                  <a:pt x="0" y="3396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21832">
            <a:off x="-999952" y="-159107"/>
            <a:ext cx="3933069" cy="5356319"/>
          </a:xfrm>
          <a:custGeom>
            <a:avLst/>
            <a:gdLst/>
            <a:ahLst/>
            <a:cxnLst/>
            <a:rect l="l" t="t" r="r" b="b"/>
            <a:pathLst>
              <a:path w="3933069" h="5356319">
                <a:moveTo>
                  <a:pt x="0" y="0"/>
                </a:moveTo>
                <a:lnTo>
                  <a:pt x="3933069" y="0"/>
                </a:lnTo>
                <a:lnTo>
                  <a:pt x="3933069" y="5356319"/>
                </a:lnTo>
                <a:lnTo>
                  <a:pt x="0" y="5356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1965904" y="3541523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66863" y="681144"/>
            <a:ext cx="11350080" cy="799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6"/>
              </a:lnSpc>
            </a:pPr>
            <a:r>
              <a:rPr lang="en-US" sz="598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Modules Of The System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87105" y="2359586"/>
            <a:ext cx="10695891" cy="589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2"/>
              </a:lnSpc>
            </a:pPr>
            <a:endParaRPr lang="en-US" sz="1194" spc="13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     </a:t>
            </a:r>
            <a:r>
              <a:rPr lang="en-US" sz="2294" b="1" spc="25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Module </a:t>
            </a: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                                                      </a:t>
            </a:r>
            <a:r>
              <a:rPr lang="en-US" sz="2294" b="1" spc="25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Description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📄 Claim Form                                      Submit flight delay claims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✅ Eligibility Checker                           Check compensation eligibility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📁 Document Upload                          </a:t>
            </a:r>
            <a:r>
              <a:rPr lang="en-US" sz="2294" spc="25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Upload</a:t>
            </a: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required documents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✔ Input Validation                                Verify user information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📜 Claim History                                  View previous claims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💬 Support Chat                                  Get customer assistance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📊 Status Tracking                              Track claim progress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👨‍💼 Admin Review                                </a:t>
            </a:r>
            <a:r>
              <a:rPr lang="en-US" sz="2294" spc="25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Review</a:t>
            </a: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and approve claims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📧 Email Notification                          Send claim updates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❓ FAQ &amp; Help                                     Provide user guidance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📑 PDF Export                                      Download claim reports</a:t>
            </a:r>
          </a:p>
          <a:p>
            <a:pPr algn="l">
              <a:lnSpc>
                <a:spcPts val="3212"/>
              </a:lnSpc>
            </a:pPr>
            <a:r>
              <a:rPr lang="en-US" sz="2294" spc="25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📱 Responsive UI                                 Support all devices</a:t>
            </a:r>
          </a:p>
          <a:p>
            <a:pPr algn="l">
              <a:lnSpc>
                <a:spcPts val="2792"/>
              </a:lnSpc>
            </a:pPr>
            <a:endParaRPr lang="en-US" sz="2294" spc="25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4803616" y="0"/>
            <a:ext cx="4911367" cy="2314482"/>
          </a:xfrm>
          <a:custGeom>
            <a:avLst/>
            <a:gdLst/>
            <a:ahLst/>
            <a:cxnLst/>
            <a:rect l="l" t="t" r="r" b="b"/>
            <a:pathLst>
              <a:path w="4911367" h="2314482">
                <a:moveTo>
                  <a:pt x="0" y="0"/>
                </a:moveTo>
                <a:lnTo>
                  <a:pt x="4911368" y="0"/>
                </a:lnTo>
                <a:lnTo>
                  <a:pt x="4911368" y="2314482"/>
                </a:lnTo>
                <a:lnTo>
                  <a:pt x="0" y="2314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218" y="7723776"/>
            <a:ext cx="2975503" cy="2057400"/>
          </a:xfrm>
          <a:custGeom>
            <a:avLst/>
            <a:gdLst/>
            <a:ahLst/>
            <a:cxnLst/>
            <a:rect l="l" t="t" r="r" b="b"/>
            <a:pathLst>
              <a:path w="2975503" h="2057400">
                <a:moveTo>
                  <a:pt x="0" y="0"/>
                </a:moveTo>
                <a:lnTo>
                  <a:pt x="2975504" y="0"/>
                </a:lnTo>
                <a:lnTo>
                  <a:pt x="297550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639717" y="2519052"/>
            <a:ext cx="12283966" cy="6488256"/>
          </a:xfrm>
          <a:custGeom>
            <a:avLst/>
            <a:gdLst/>
            <a:ahLst/>
            <a:cxnLst/>
            <a:rect l="l" t="t" r="r" b="b"/>
            <a:pathLst>
              <a:path w="12283966" h="6488256">
                <a:moveTo>
                  <a:pt x="0" y="0"/>
                </a:moveTo>
                <a:lnTo>
                  <a:pt x="12283967" y="0"/>
                </a:lnTo>
                <a:lnTo>
                  <a:pt x="12283967" y="6488256"/>
                </a:lnTo>
                <a:lnTo>
                  <a:pt x="0" y="6488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41702">
            <a:off x="10745159" y="9258300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3"/>
                </a:lnTo>
                <a:lnTo>
                  <a:pt x="0" y="3396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21832">
            <a:off x="-999952" y="-159107"/>
            <a:ext cx="3933069" cy="5356319"/>
          </a:xfrm>
          <a:custGeom>
            <a:avLst/>
            <a:gdLst/>
            <a:ahLst/>
            <a:cxnLst/>
            <a:rect l="l" t="t" r="r" b="b"/>
            <a:pathLst>
              <a:path w="3933069" h="5356319">
                <a:moveTo>
                  <a:pt x="0" y="0"/>
                </a:moveTo>
                <a:lnTo>
                  <a:pt x="3933069" y="0"/>
                </a:lnTo>
                <a:lnTo>
                  <a:pt x="3933069" y="5356319"/>
                </a:lnTo>
                <a:lnTo>
                  <a:pt x="0" y="5356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5486400" y="9007308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10410" y="727833"/>
            <a:ext cx="11296814" cy="72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0"/>
              </a:lnSpc>
            </a:pPr>
            <a:r>
              <a:rPr lang="en-US" sz="55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System Architecture</a:t>
            </a:r>
          </a:p>
        </p:txBody>
      </p:sp>
      <p:sp>
        <p:nvSpPr>
          <p:cNvPr id="3" name="Freeform 3"/>
          <p:cNvSpPr/>
          <p:nvPr/>
        </p:nvSpPr>
        <p:spPr>
          <a:xfrm>
            <a:off x="-1242264" y="8411980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1"/>
                </a:lnTo>
                <a:lnTo>
                  <a:pt x="0" y="3390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50594" y="2128778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630400" y="6243578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3079" y="-379911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288027">
            <a:off x="-1864445" y="-2587374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9916732" y="9696450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1"/>
                </a:lnTo>
                <a:lnTo>
                  <a:pt x="3657600" y="1698171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852956" y="1890431"/>
            <a:ext cx="11058716" cy="7367869"/>
          </a:xfrm>
          <a:custGeom>
            <a:avLst/>
            <a:gdLst/>
            <a:ahLst/>
            <a:cxnLst/>
            <a:rect l="l" t="t" r="r" b="b"/>
            <a:pathLst>
              <a:path w="11058716" h="7367869">
                <a:moveTo>
                  <a:pt x="0" y="0"/>
                </a:moveTo>
                <a:lnTo>
                  <a:pt x="11058716" y="0"/>
                </a:lnTo>
                <a:lnTo>
                  <a:pt x="11058716" y="7367869"/>
                </a:lnTo>
                <a:lnTo>
                  <a:pt x="0" y="73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14425"/>
            <a:ext cx="6545941" cy="540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2"/>
              </a:lnSpc>
            </a:pPr>
            <a:r>
              <a:rPr lang="en-US" sz="4147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Technologies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09491" y="2135636"/>
            <a:ext cx="5839147" cy="6519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4"/>
              </a:lnSpc>
            </a:pPr>
            <a:r>
              <a:rPr lang="en-US" sz="3146" b="1" spc="3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Frontend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HTML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CSS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JavaScript</a:t>
            </a:r>
          </a:p>
          <a:p>
            <a:pPr algn="l">
              <a:lnSpc>
                <a:spcPts val="4404"/>
              </a:lnSpc>
            </a:pPr>
            <a:r>
              <a:rPr lang="en-US" sz="3146" b="1" spc="3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Backend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Flask / Node.js</a:t>
            </a:r>
          </a:p>
          <a:p>
            <a:pPr algn="l">
              <a:lnSpc>
                <a:spcPts val="4404"/>
              </a:lnSpc>
            </a:pPr>
            <a:r>
              <a:rPr lang="en-US" sz="3146" b="1" spc="3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Database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MySQL / MongoDB</a:t>
            </a:r>
          </a:p>
          <a:p>
            <a:pPr algn="l">
              <a:lnSpc>
                <a:spcPts val="4404"/>
              </a:lnSpc>
            </a:pPr>
            <a:r>
              <a:rPr lang="en-US" sz="3146" b="1" spc="34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Tools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VS Code</a:t>
            </a:r>
          </a:p>
          <a:p>
            <a:pPr marL="679288" lvl="1" indent="-339644" algn="l">
              <a:lnSpc>
                <a:spcPts val="4404"/>
              </a:lnSpc>
              <a:buFont typeface="Arial"/>
              <a:buChar char="•"/>
            </a:pPr>
            <a:r>
              <a:rPr lang="en-US" sz="3146" spc="3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GitHub</a:t>
            </a:r>
          </a:p>
          <a:p>
            <a:pPr algn="l">
              <a:lnSpc>
                <a:spcPts val="3564"/>
              </a:lnSpc>
            </a:pPr>
            <a:endParaRPr lang="en-US" sz="3146" spc="34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578825" y="0"/>
            <a:ext cx="5840007" cy="2752103"/>
          </a:xfrm>
          <a:custGeom>
            <a:avLst/>
            <a:gdLst/>
            <a:ahLst/>
            <a:cxnLst/>
            <a:rect l="l" t="t" r="r" b="b"/>
            <a:pathLst>
              <a:path w="5840007" h="2752103">
                <a:moveTo>
                  <a:pt x="0" y="0"/>
                </a:moveTo>
                <a:lnTo>
                  <a:pt x="5840007" y="0"/>
                </a:lnTo>
                <a:lnTo>
                  <a:pt x="5840007" y="2752103"/>
                </a:lnTo>
                <a:lnTo>
                  <a:pt x="0" y="2752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79977" y="-1592685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3079" y="6305316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1474" y="881443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3"/>
                </a:lnTo>
                <a:lnTo>
                  <a:pt x="0" y="33963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557799" y="1822604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5996298" y="3994478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75559"/>
            <a:ext cx="6545941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11008" y="2860311"/>
            <a:ext cx="6978164" cy="451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84"/>
              </a:lnSpc>
            </a:pPr>
            <a:r>
              <a:rPr lang="en-US" sz="2846" b="1" spc="3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Claim Process: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Passenger enters flight details.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System checks delay duration.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Eligibility is verified.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Claim is submitted.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Admin reviews request.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Compensation is approved/rejected.</a:t>
            </a:r>
          </a:p>
          <a:p>
            <a:pPr marL="614520" lvl="1" indent="-307260" algn="l">
              <a:lnSpc>
                <a:spcPts val="3984"/>
              </a:lnSpc>
              <a:buAutoNum type="arabicPeriod"/>
            </a:pPr>
            <a:r>
              <a:rPr lang="en-US" sz="2846" spc="3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User receives notification.</a:t>
            </a:r>
          </a:p>
          <a:p>
            <a:pPr algn="l">
              <a:lnSpc>
                <a:spcPts val="3984"/>
              </a:lnSpc>
            </a:pPr>
            <a:endParaRPr lang="en-US" sz="2846" spc="31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324326" y="7562894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2"/>
                </a:lnTo>
                <a:lnTo>
                  <a:pt x="0" y="3390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1669" y="-739140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68399" y="6423192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-824367" y="-230179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315200" y="-539258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8510" y="1123950"/>
            <a:ext cx="8795671" cy="57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3"/>
              </a:lnSpc>
            </a:pPr>
            <a:r>
              <a:rPr lang="en-US" sz="440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Future Enhancements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11008" y="3355611"/>
            <a:ext cx="8030520" cy="4040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3275" b="1" spc="36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Future Scope: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AI-based fraud detection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Mobile application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Real-time flight tracking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Multi-airline integration</a:t>
            </a:r>
          </a:p>
          <a:p>
            <a:pPr marL="707194" lvl="1" indent="-353597" algn="l">
              <a:lnSpc>
                <a:spcPts val="4585"/>
              </a:lnSpc>
              <a:buFont typeface="Arial"/>
              <a:buChar char="•"/>
            </a:pPr>
            <a:r>
              <a:rPr lang="en-US" sz="3275" spc="36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Online payment gateway</a:t>
            </a:r>
          </a:p>
          <a:p>
            <a:pPr algn="l">
              <a:lnSpc>
                <a:spcPts val="4585"/>
              </a:lnSpc>
            </a:pPr>
            <a:endParaRPr lang="en-US" sz="3275" spc="36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324326" y="7562894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2"/>
                </a:lnTo>
                <a:lnTo>
                  <a:pt x="0" y="33908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1669" y="-739140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68399" y="6423192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4288027">
            <a:off x="-824367" y="-230179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315200" y="-539258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71030" y="1175559"/>
            <a:ext cx="6545941" cy="89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373461" y="3633562"/>
            <a:ext cx="11998993" cy="2567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4"/>
              </a:lnSpc>
            </a:pPr>
            <a:r>
              <a:rPr lang="en-US" sz="3046" spc="3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The Flight Delay Compensation Claim System streamlines the compensation process by automating claim submission, verification, and tracking, resulting in faster resolutions and improved passenger satisfaction.</a:t>
            </a:r>
          </a:p>
          <a:p>
            <a:pPr algn="l">
              <a:lnSpc>
                <a:spcPts val="3564"/>
              </a:lnSpc>
            </a:pPr>
            <a:endParaRPr lang="en-US" sz="3046" spc="33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1002704" y="-425823"/>
            <a:ext cx="6076276" cy="2863445"/>
          </a:xfrm>
          <a:custGeom>
            <a:avLst/>
            <a:gdLst/>
            <a:ahLst/>
            <a:cxnLst/>
            <a:rect l="l" t="t" r="r" b="b"/>
            <a:pathLst>
              <a:path w="6076276" h="2863445">
                <a:moveTo>
                  <a:pt x="0" y="0"/>
                </a:moveTo>
                <a:lnTo>
                  <a:pt x="6076276" y="0"/>
                </a:lnTo>
                <a:lnTo>
                  <a:pt x="6076276" y="2863445"/>
                </a:lnTo>
                <a:lnTo>
                  <a:pt x="0" y="2863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37531" y="7820790"/>
            <a:ext cx="4834303" cy="3342660"/>
          </a:xfrm>
          <a:custGeom>
            <a:avLst/>
            <a:gdLst/>
            <a:ahLst/>
            <a:cxnLst/>
            <a:rect l="l" t="t" r="r" b="b"/>
            <a:pathLst>
              <a:path w="4834303" h="3342660">
                <a:moveTo>
                  <a:pt x="4834303" y="0"/>
                </a:moveTo>
                <a:lnTo>
                  <a:pt x="0" y="0"/>
                </a:lnTo>
                <a:lnTo>
                  <a:pt x="0" y="3342660"/>
                </a:lnTo>
                <a:lnTo>
                  <a:pt x="4834303" y="3342660"/>
                </a:lnTo>
                <a:lnTo>
                  <a:pt x="483430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3079" y="6305316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2226085">
            <a:off x="15333033" y="-837633"/>
            <a:ext cx="3852534" cy="5246642"/>
          </a:xfrm>
          <a:custGeom>
            <a:avLst/>
            <a:gdLst/>
            <a:ahLst/>
            <a:cxnLst/>
            <a:rect l="l" t="t" r="r" b="b"/>
            <a:pathLst>
              <a:path w="3852534" h="5246642">
                <a:moveTo>
                  <a:pt x="0" y="0"/>
                </a:moveTo>
                <a:lnTo>
                  <a:pt x="3852534" y="0"/>
                </a:lnTo>
                <a:lnTo>
                  <a:pt x="3852534" y="5246642"/>
                </a:lnTo>
                <a:lnTo>
                  <a:pt x="0" y="52466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16459200" y="5218466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D2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02607" y="3042787"/>
            <a:ext cx="11482787" cy="457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282826"/>
                </a:solidFill>
                <a:latin typeface="Brice SemiExpanded"/>
                <a:ea typeface="Brice SemiExpanded"/>
                <a:cs typeface="Brice SemiExpanded"/>
                <a:sym typeface="Brice SemiExpanded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13517246" y="-527366"/>
            <a:ext cx="7195356" cy="3390812"/>
          </a:xfrm>
          <a:custGeom>
            <a:avLst/>
            <a:gdLst/>
            <a:ahLst/>
            <a:cxnLst/>
            <a:rect l="l" t="t" r="r" b="b"/>
            <a:pathLst>
              <a:path w="7195356" h="3390812">
                <a:moveTo>
                  <a:pt x="0" y="0"/>
                </a:moveTo>
                <a:lnTo>
                  <a:pt x="7195356" y="0"/>
                </a:lnTo>
                <a:lnTo>
                  <a:pt x="7195356" y="3390811"/>
                </a:lnTo>
                <a:lnTo>
                  <a:pt x="0" y="3390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3743" y="7200900"/>
            <a:ext cx="5951007" cy="4114800"/>
          </a:xfrm>
          <a:custGeom>
            <a:avLst/>
            <a:gdLst/>
            <a:ahLst/>
            <a:cxnLst/>
            <a:rect l="l" t="t" r="r" b="b"/>
            <a:pathLst>
              <a:path w="5951007" h="4114800">
                <a:moveTo>
                  <a:pt x="0" y="0"/>
                </a:moveTo>
                <a:lnTo>
                  <a:pt x="5951007" y="0"/>
                </a:lnTo>
                <a:lnTo>
                  <a:pt x="59510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213079" y="6305316"/>
            <a:ext cx="7315200" cy="3863808"/>
          </a:xfrm>
          <a:custGeom>
            <a:avLst/>
            <a:gdLst/>
            <a:ahLst/>
            <a:cxnLst/>
            <a:rect l="l" t="t" r="r" b="b"/>
            <a:pathLst>
              <a:path w="7315200" h="3863808">
                <a:moveTo>
                  <a:pt x="0" y="0"/>
                </a:moveTo>
                <a:lnTo>
                  <a:pt x="7315200" y="0"/>
                </a:lnTo>
                <a:lnTo>
                  <a:pt x="7315200" y="3863808"/>
                </a:lnTo>
                <a:lnTo>
                  <a:pt x="0" y="38638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553199" y="8588829"/>
            <a:ext cx="7315200" cy="3396343"/>
          </a:xfrm>
          <a:custGeom>
            <a:avLst/>
            <a:gdLst/>
            <a:ahLst/>
            <a:cxnLst/>
            <a:rect l="l" t="t" r="r" b="b"/>
            <a:pathLst>
              <a:path w="7315200" h="3396343">
                <a:moveTo>
                  <a:pt x="0" y="0"/>
                </a:moveTo>
                <a:lnTo>
                  <a:pt x="7315200" y="0"/>
                </a:lnTo>
                <a:lnTo>
                  <a:pt x="7315200" y="3396342"/>
                </a:lnTo>
                <a:lnTo>
                  <a:pt x="0" y="33963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288027">
            <a:off x="-824367" y="-2301798"/>
            <a:ext cx="5316313" cy="7240115"/>
          </a:xfrm>
          <a:custGeom>
            <a:avLst/>
            <a:gdLst/>
            <a:ahLst/>
            <a:cxnLst/>
            <a:rect l="l" t="t" r="r" b="b"/>
            <a:pathLst>
              <a:path w="5316313" h="7240115">
                <a:moveTo>
                  <a:pt x="0" y="0"/>
                </a:moveTo>
                <a:lnTo>
                  <a:pt x="5316313" y="0"/>
                </a:lnTo>
                <a:lnTo>
                  <a:pt x="5316313" y="7240115"/>
                </a:lnTo>
                <a:lnTo>
                  <a:pt x="0" y="72401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7655323" y="179614"/>
            <a:ext cx="3657600" cy="1698171"/>
          </a:xfrm>
          <a:custGeom>
            <a:avLst/>
            <a:gdLst/>
            <a:ahLst/>
            <a:cxnLst/>
            <a:rect l="l" t="t" r="r" b="b"/>
            <a:pathLst>
              <a:path w="3657600" h="1698171">
                <a:moveTo>
                  <a:pt x="3657600" y="0"/>
                </a:moveTo>
                <a:lnTo>
                  <a:pt x="0" y="0"/>
                </a:lnTo>
                <a:lnTo>
                  <a:pt x="0" y="1698172"/>
                </a:lnTo>
                <a:lnTo>
                  <a:pt x="3657600" y="1698172"/>
                </a:lnTo>
                <a:lnTo>
                  <a:pt x="365760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322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Charmonman Bold</vt:lpstr>
      <vt:lpstr>Arial</vt:lpstr>
      <vt:lpstr>Noto Sans</vt:lpstr>
      <vt:lpstr>Noto Sans Bold</vt:lpstr>
      <vt:lpstr>Brice SemiExpanded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 Teal Vintage Aviation Aircraft Group Project Presentation</dc:title>
  <cp:lastModifiedBy>Rishitha Reddy</cp:lastModifiedBy>
  <cp:revision>2</cp:revision>
  <dcterms:created xsi:type="dcterms:W3CDTF">2006-08-16T00:00:00Z</dcterms:created>
  <dcterms:modified xsi:type="dcterms:W3CDTF">2026-06-19T03:29:40Z</dcterms:modified>
  <dc:identifier>DAHM8pTbBqE</dc:identifier>
</cp:coreProperties>
</file>